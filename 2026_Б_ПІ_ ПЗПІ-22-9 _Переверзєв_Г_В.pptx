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1" r:id="rId14"/>
    <p:sldId id="272" r:id="rId15"/>
    <p:sldId id="273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utfit SemiBold" panose="020B0604020202020204" charset="0"/>
      <p:regular r:id="rId34"/>
      <p:bold r:id="rId35"/>
    </p:embeddedFon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Poppins SemiBold" panose="00000700000000000000" pitchFamily="2" charset="0"/>
      <p:bold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3AF499-71BC-4F03-A569-9619192286B4}">
  <a:tblStyle styleId="{873AF499-71BC-4F03-A569-9619192286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35D33D0-2804-4F60-9E43-DC5B89BF918D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f2627a63a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f2627a63a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f2627a63a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f2627a63a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f2627a63a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f2627a63a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54.png"/><Relationship Id="rId5" Type="http://schemas.openxmlformats.org/officeDocument/2006/relationships/image" Target="../media/image35.png"/><Relationship Id="rId10" Type="http://schemas.openxmlformats.org/officeDocument/2006/relationships/image" Target="../media/image53.png"/><Relationship Id="rId4" Type="http://schemas.openxmlformats.org/officeDocument/2006/relationships/image" Target="../media/image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1025" y="390525"/>
            <a:ext cx="110299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Міністерство освіти і науки України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Харківський національний університет радіоелектроніки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05276" y="1697235"/>
            <a:ext cx="1158144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Кваліфікаційна робота бакалавра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11735" y="2383035"/>
            <a:ext cx="536837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Мобільний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застосунок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асистент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приготування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кави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альтернативними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методами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з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інтеграцією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IoT-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ваг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4866977"/>
            <a:ext cx="16149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Виконав: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5228927"/>
            <a:ext cx="16149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ст. гр. ПЗПІ-22-9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62250" y="5590875"/>
            <a:ext cx="1809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Переверзєв Г. В.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577422" y="4897088"/>
            <a:ext cx="2318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Науковий керівник: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577435" y="5228927"/>
            <a:ext cx="185231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к.т.н., доц. каф. ПІ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577435" y="5590877"/>
            <a:ext cx="185231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Русакова Н. Є.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581025" y="4190702"/>
            <a:ext cx="11030100" cy="1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9400" y="388590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5137" y="406695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25" y="94675"/>
            <a:ext cx="2978837" cy="5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3500" y="48500"/>
            <a:ext cx="2787100" cy="6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CF15A75-F1BF-1F61-2B6A-73858E2858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2E707DD-A893-7C42-3085-A022BA26F530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375701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838900" y="562350"/>
            <a:ext cx="35445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</a:t>
            </a:r>
            <a:r>
              <a:rPr lang="en-US" sz="2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uk-UA" sz="2100" b="1" dirty="0"/>
              <a:t>і задачі дослідження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82460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4"/>
          <p:cNvCxnSpPr>
            <a:stCxn id="103" idx="1"/>
          </p:cNvCxnSpPr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4"/>
          <p:cNvCxnSpPr>
            <a:cxnSpLocks/>
          </p:cNvCxnSpPr>
          <p:nvPr/>
        </p:nvCxnSpPr>
        <p:spPr>
          <a:xfrm>
            <a:off x="5589349" y="723900"/>
            <a:ext cx="660265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009975" y="2944200"/>
            <a:ext cx="485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Аналіз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процесу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приготування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кави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альтернативними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методами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виявлення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проблем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взаємодії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користувача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09975" y="4096725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Аналіз існуючих програмних рішень у кавовій індустрії та визначення їх недоліків.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09975" y="4944450"/>
            <a:ext cx="485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Дослідження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розробка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алгоритму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інтерактивного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супроводу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основі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даних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IoT-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ваг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6772600" y="2944200"/>
            <a:ext cx="485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Проєктування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реалізація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з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використанням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клієнт-серверної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архітектури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WebSockets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6772600" y="4096725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Створення зручного та мінімалістичного інтерфейсу користувача застосунку «Bloom».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72600" y="4944450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Тестування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розробленої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аналіз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результатів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підтвердження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працездатності</a:t>
            </a:r>
            <a:r>
              <a:rPr lang="en-US" sz="150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50" y="2972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350" y="41253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350" y="4973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43975" y="2972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43975" y="41253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43975" y="49730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DC67E465-A860-2625-DD9E-0FE05168E8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7B74DF7-298C-8D52-6B2A-0C0D4EA18062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F7147-FE8E-54D1-C8D1-B566C81FAF05}"/>
              </a:ext>
            </a:extLst>
          </p:cNvPr>
          <p:cNvSpPr txBox="1"/>
          <p:nvPr/>
        </p:nvSpPr>
        <p:spPr>
          <a:xfrm>
            <a:off x="903225" y="1381780"/>
            <a:ext cx="92603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b="1" dirty="0"/>
              <a:t>Мета роботи:</a:t>
            </a:r>
            <a:r>
              <a:rPr lang="uk-UA" sz="1600" dirty="0"/>
              <a:t> розробка мобільного застосунку-асистента «</a:t>
            </a:r>
            <a:r>
              <a:rPr lang="uk-UA" sz="1600" dirty="0" err="1"/>
              <a:t>Bloom</a:t>
            </a:r>
            <a:r>
              <a:rPr lang="uk-UA" sz="1600" dirty="0"/>
              <a:t>» для оптимізації та контролю процесу альтернативного заварювання кави шляхом інтеграції з інтелектуальними </a:t>
            </a:r>
            <a:r>
              <a:rPr lang="uk-UA" sz="1600" dirty="0" err="1"/>
              <a:t>IoT</a:t>
            </a:r>
            <a:r>
              <a:rPr lang="uk-UA" sz="1600" dirty="0"/>
              <a:t>-вагами у режимі реального часу.</a:t>
            </a:r>
          </a:p>
          <a:p>
            <a:br>
              <a:rPr lang="uk-UA" sz="1600" dirty="0"/>
            </a:br>
            <a:r>
              <a:rPr lang="uk-UA" sz="1600" b="1" dirty="0"/>
              <a:t>Для досягнення мети поставлено такі задачі: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436468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819275" y="571500"/>
            <a:ext cx="23826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Аналіз проблеми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82460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5"/>
          <p:cNvCxnSpPr/>
          <p:nvPr/>
        </p:nvCxnSpPr>
        <p:spPr>
          <a:xfrm>
            <a:off x="9525" y="723900"/>
            <a:ext cx="91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5"/>
          <p:cNvCxnSpPr>
            <a:stCxn id="126" idx="3"/>
          </p:cNvCxnSpPr>
          <p:nvPr/>
        </p:nvCxnSpPr>
        <p:spPr>
          <a:xfrm>
            <a:off x="4374207" y="723900"/>
            <a:ext cx="784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2" name="Google Shape;13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694588"/>
            <a:ext cx="528637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1694588"/>
            <a:ext cx="528637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2085113"/>
            <a:ext cx="4505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962025" y="2656613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C191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Традиційний процес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24650" y="2085113"/>
            <a:ext cx="4505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6724650" y="2656613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580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Процес із "Bloom"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228725" y="3180488"/>
            <a:ext cx="343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Пошук та вибір рецепта з різних джерел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28725" y="3580538"/>
            <a:ext cx="385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Підготовка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окремих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пристроїв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ваги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таймер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1228724" y="3980588"/>
            <a:ext cx="4021505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Ручний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контроль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часу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об'єму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води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1228725" y="4380638"/>
            <a:ext cx="349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Аналіз результату без збереження даних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019925" y="3180488"/>
            <a:ext cx="3314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Вибір рецепта в єдиній базі застосунку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019924" y="3580538"/>
            <a:ext cx="3862041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Автоматична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синхронізація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з IoT-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вагами</a:t>
            </a:r>
            <a:endParaRPr dirty="0"/>
          </a:p>
        </p:txBody>
      </p:sp>
      <p:sp>
        <p:nvSpPr>
          <p:cNvPr id="145" name="Google Shape;145;p15"/>
          <p:cNvSpPr txBox="1"/>
          <p:nvPr/>
        </p:nvSpPr>
        <p:spPr>
          <a:xfrm>
            <a:off x="7019925" y="3980588"/>
            <a:ext cx="3762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Інтерактивний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супровід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підказки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endParaRPr dirty="0"/>
          </a:p>
        </p:txBody>
      </p:sp>
      <p:sp>
        <p:nvSpPr>
          <p:cNvPr id="146" name="Google Shape;146;p15"/>
          <p:cNvSpPr txBox="1"/>
          <p:nvPr/>
        </p:nvSpPr>
        <p:spPr>
          <a:xfrm>
            <a:off x="7019925" y="4380638"/>
            <a:ext cx="3676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Автоматичне збереження сесії до журналу</a:t>
            </a:r>
            <a:endParaRPr/>
          </a:p>
        </p:txBody>
      </p:sp>
      <p:pic>
        <p:nvPicPr>
          <p:cNvPr id="147" name="Google Shape;14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3223349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362340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402345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442350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24650" y="322334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24650" y="36234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24650" y="40234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24650" y="442350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14C48FC4-962C-924C-5834-206F1B2C4F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F169C46-7B08-A3D2-925F-239DEFB70834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5271045" cy="476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6"/>
          <p:cNvGraphicFramePr/>
          <p:nvPr/>
        </p:nvGraphicFramePr>
        <p:xfrm>
          <a:off x="1152525" y="1819275"/>
          <a:ext cx="10258400" cy="3624745"/>
        </p:xfrm>
        <a:graphic>
          <a:graphicData uri="http://schemas.openxmlformats.org/drawingml/2006/table">
            <a:tbl>
              <a:tblPr firstRow="1" bandRow="1">
                <a:noFill/>
                <a:tableStyleId>{873AF499-71BC-4F03-A569-9619192286B4}</a:tableStyleId>
              </a:tblPr>
              <a:tblGrid>
                <a:gridCol w="256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Рішення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Переваги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Недоліки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9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Brew Mate: Coffee Timer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Мобільний застосунок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Містить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вбудовану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базу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рецептів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Дозволяє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запускати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базовий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таймер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для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заварювання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Відсутня будь-яка інтеграція зі смарт-вагами. Користувач має самостійно контролювати вагу на окремому пристрої.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V60 Coffee Pro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Мобільний застосунок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Має гнучкі налаштування параметрів рецепта та етапів наливу води.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Перевантажений інтерфейс. Не підтримує IoT-пристрої та не надає динамічних підказок під час процесу.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Звичайні смарт-ваги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Апаратне рішення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Забезпечують точне вимірювання ваги та швидкості проливу у реальному часі.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пов'язані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з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конкретним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рецептом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Користувач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повинен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самостійно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тримати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в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голові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етапи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та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цільову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вагу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1" name="Google Shape;16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819275" y="571500"/>
            <a:ext cx="333432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Аналіз існуючих рішень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82460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6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16"/>
          <p:cNvCxnSpPr>
            <a:stCxn id="162" idx="3"/>
          </p:cNvCxnSpPr>
          <p:nvPr/>
        </p:nvCxnSpPr>
        <p:spPr>
          <a:xfrm>
            <a:off x="5153597" y="723900"/>
            <a:ext cx="706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6" name="Google Shape;16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71C2D1B5-AB5B-C54B-3A0E-89077F4C0D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D38A11B-6B1E-4A65-289E-A44A75A1A470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5;p13">
            <a:extLst>
              <a:ext uri="{FF2B5EF4-FFF2-40B4-BE49-F238E27FC236}">
                <a16:creationId xmlns:a16="http://schemas.microsoft.com/office/drawing/2014/main" id="{513CE21A-59F0-1A34-C004-499DBF4A6FD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05649" y="1823353"/>
            <a:ext cx="4999344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6;p13">
            <a:extLst>
              <a:ext uri="{FF2B5EF4-FFF2-40B4-BE49-F238E27FC236}">
                <a16:creationId xmlns:a16="http://schemas.microsoft.com/office/drawing/2014/main" id="{CD7294EB-B434-9D5C-C823-444983A98C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10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E82EA9EF-4FC4-415E-FC81-A80E58578AB7}"/>
              </a:ext>
            </a:extLst>
          </p:cNvPr>
          <p:cNvSpPr txBox="1"/>
          <p:nvPr/>
        </p:nvSpPr>
        <p:spPr>
          <a:xfrm>
            <a:off x="1238250" y="414337"/>
            <a:ext cx="77846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Новизна та 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ключові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особливості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системи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Bloom</a:t>
            </a:r>
            <a:endParaRPr dirty="0"/>
          </a:p>
        </p:txBody>
      </p:sp>
      <p:pic>
        <p:nvPicPr>
          <p:cNvPr id="12" name="Google Shape;88;p13">
            <a:extLst>
              <a:ext uri="{FF2B5EF4-FFF2-40B4-BE49-F238E27FC236}">
                <a16:creationId xmlns:a16="http://schemas.microsoft.com/office/drawing/2014/main" id="{A38E4C4A-3560-4D70-27E2-5CCDD65E63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5048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9;p13">
            <a:extLst>
              <a:ext uri="{FF2B5EF4-FFF2-40B4-BE49-F238E27FC236}">
                <a16:creationId xmlns:a16="http://schemas.microsoft.com/office/drawing/2014/main" id="{684F861A-4FF6-CB09-1B69-4B1E8892B444}"/>
              </a:ext>
            </a:extLst>
          </p:cNvPr>
          <p:cNvSpPr txBox="1"/>
          <p:nvPr/>
        </p:nvSpPr>
        <p:spPr>
          <a:xfrm>
            <a:off x="574834" y="1766719"/>
            <a:ext cx="644080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1" i="0" u="none" strike="noStrike" cap="none" dirty="0">
                <a:solidFill>
                  <a:srgbClr val="E67E22"/>
                </a:solidFill>
                <a:latin typeface="Open Sans"/>
                <a:ea typeface="Open Sans"/>
                <a:cs typeface="Open Sans"/>
                <a:sym typeface="Open Sans"/>
              </a:rPr>
              <a:t>Особливості системи:</a:t>
            </a:r>
            <a:endParaRPr dirty="0"/>
          </a:p>
        </p:txBody>
      </p:sp>
      <p:pic>
        <p:nvPicPr>
          <p:cNvPr id="19" name="Google Shape;95;p13">
            <a:extLst>
              <a:ext uri="{FF2B5EF4-FFF2-40B4-BE49-F238E27FC236}">
                <a16:creationId xmlns:a16="http://schemas.microsoft.com/office/drawing/2014/main" id="{FECAD6C0-7DE7-905F-3144-FD85A08342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134" y="17964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06;p13">
            <a:extLst>
              <a:ext uri="{FF2B5EF4-FFF2-40B4-BE49-F238E27FC236}">
                <a16:creationId xmlns:a16="http://schemas.microsoft.com/office/drawing/2014/main" id="{AC6DDDA6-38B6-F630-7109-EFBEDA857CCB}"/>
              </a:ext>
            </a:extLst>
          </p:cNvPr>
          <p:cNvSpPr/>
          <p:nvPr/>
        </p:nvSpPr>
        <p:spPr>
          <a:xfrm>
            <a:off x="7399968" y="4557028"/>
            <a:ext cx="4248150" cy="542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7;p13">
            <a:extLst>
              <a:ext uri="{FF2B5EF4-FFF2-40B4-BE49-F238E27FC236}">
                <a16:creationId xmlns:a16="http://schemas.microsoft.com/office/drawing/2014/main" id="{89F81E12-558E-305E-C40B-2459000E866F}"/>
              </a:ext>
            </a:extLst>
          </p:cNvPr>
          <p:cNvSpPr txBox="1"/>
          <p:nvPr/>
        </p:nvSpPr>
        <p:spPr>
          <a:xfrm>
            <a:off x="7692710" y="4746457"/>
            <a:ext cx="38671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900" b="0" i="1" u="none" strike="noStrike" cap="none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Архітектура мобільного застосунку «</a:t>
            </a:r>
            <a:r>
              <a:rPr lang="en-US" sz="900" b="0" i="1" u="none" strike="noStrike" cap="none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Bloom» </a:t>
            </a:r>
            <a:endParaRPr dirty="0"/>
          </a:p>
        </p:txBody>
      </p:sp>
      <p:pic>
        <p:nvPicPr>
          <p:cNvPr id="32" name="Google Shape;108;p13">
            <a:extLst>
              <a:ext uri="{FF2B5EF4-FFF2-40B4-BE49-F238E27FC236}">
                <a16:creationId xmlns:a16="http://schemas.microsoft.com/office/drawing/2014/main" id="{0AAA8CDE-BB04-1ED7-84A5-89CB55429BA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075" y="2455093"/>
            <a:ext cx="8753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Місце для номера слайда 3">
            <a:extLst>
              <a:ext uri="{FF2B5EF4-FFF2-40B4-BE49-F238E27FC236}">
                <a16:creationId xmlns:a16="http://schemas.microsoft.com/office/drawing/2014/main" id="{D0AB3C2E-8B1A-453D-D91B-CF59F36244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8F81DAF8-6269-17E2-216C-1F884C4BBAF9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44" name="Google Shape;177;p17">
            <a:extLst>
              <a:ext uri="{FF2B5EF4-FFF2-40B4-BE49-F238E27FC236}">
                <a16:creationId xmlns:a16="http://schemas.microsoft.com/office/drawing/2014/main" id="{80A8F878-B892-BB73-A67B-90B7C38AFC4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EBCAE727-0707-D805-A813-C6C5387A430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330" y="1830973"/>
            <a:ext cx="4867910" cy="27260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164;p16">
            <a:extLst>
              <a:ext uri="{FF2B5EF4-FFF2-40B4-BE49-F238E27FC236}">
                <a16:creationId xmlns:a16="http://schemas.microsoft.com/office/drawing/2014/main" id="{3659152C-CAD7-B0FE-E6EA-891DAB7DF7C6}"/>
              </a:ext>
            </a:extLst>
          </p:cNvPr>
          <p:cNvCxnSpPr>
            <a:cxnSpLocks/>
          </p:cNvCxnSpPr>
          <p:nvPr/>
        </p:nvCxnSpPr>
        <p:spPr>
          <a:xfrm>
            <a:off x="9525" y="602788"/>
            <a:ext cx="3901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165;p16">
            <a:extLst>
              <a:ext uri="{FF2B5EF4-FFF2-40B4-BE49-F238E27FC236}">
                <a16:creationId xmlns:a16="http://schemas.microsoft.com/office/drawing/2014/main" id="{694A37F3-0FCB-687B-7B68-580FCFD7F28C}"/>
              </a:ext>
            </a:extLst>
          </p:cNvPr>
          <p:cNvCxnSpPr>
            <a:cxnSpLocks/>
          </p:cNvCxnSpPr>
          <p:nvPr/>
        </p:nvCxnSpPr>
        <p:spPr>
          <a:xfrm>
            <a:off x="9144000" y="602788"/>
            <a:ext cx="307759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5938804-1AAF-7C37-AE3F-0902B1857E6A}"/>
              </a:ext>
            </a:extLst>
          </p:cNvPr>
          <p:cNvSpPr txBox="1"/>
          <p:nvPr/>
        </p:nvSpPr>
        <p:spPr>
          <a:xfrm>
            <a:off x="305276" y="2334572"/>
            <a:ext cx="7025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>
                <a:latin typeface="Inter" panose="020B0604020202020204" charset="0"/>
                <a:ea typeface="Inter" panose="020B0604020202020204" charset="0"/>
              </a:rPr>
              <a:t>Інтеграція мобільного застосунку зі </a:t>
            </a:r>
            <a:r>
              <a:rPr lang="uk-UA" sz="1600" b="1" dirty="0">
                <a:latin typeface="Inter" panose="020B0604020202020204" charset="0"/>
                <a:ea typeface="Inter" panose="020B0604020202020204" charset="0"/>
              </a:rPr>
              <a:t>смарт-вагами</a:t>
            </a:r>
            <a:r>
              <a:rPr lang="uk-UA" sz="1600" dirty="0">
                <a:latin typeface="Inter" panose="020B0604020202020204" charset="0"/>
                <a:ea typeface="Inter" panose="020B0604020202020204" charset="0"/>
              </a:rPr>
              <a:t> на базі </a:t>
            </a:r>
            <a:r>
              <a:rPr lang="uk-UA" sz="1600" b="1" dirty="0">
                <a:latin typeface="Inter" panose="020B0604020202020204" charset="0"/>
                <a:ea typeface="Inter" panose="020B0604020202020204" charset="0"/>
              </a:rPr>
              <a:t>ESP32</a:t>
            </a:r>
            <a:r>
              <a:rPr lang="uk-UA" sz="1600" dirty="0"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17" name="Google Shape;108;p13">
            <a:extLst>
              <a:ext uri="{FF2B5EF4-FFF2-40B4-BE49-F238E27FC236}">
                <a16:creationId xmlns:a16="http://schemas.microsoft.com/office/drawing/2014/main" id="{E47B39DB-920B-B779-203F-FFE363F28EF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075" y="2883391"/>
            <a:ext cx="8753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A21C54-B235-4DBE-5B8C-8B68552FBAF7}"/>
              </a:ext>
            </a:extLst>
          </p:cNvPr>
          <p:cNvSpPr txBox="1"/>
          <p:nvPr/>
        </p:nvSpPr>
        <p:spPr>
          <a:xfrm>
            <a:off x="305276" y="2762870"/>
            <a:ext cx="7025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b="1" dirty="0"/>
              <a:t>Інтерактивний супровід </a:t>
            </a:r>
            <a:r>
              <a:rPr lang="uk-UA" sz="1600" dirty="0"/>
              <a:t>користувача під час виконання рецепта.</a:t>
            </a:r>
            <a:endParaRPr lang="uk-UA" sz="16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48" name="Google Shape;108;p13">
            <a:extLst>
              <a:ext uri="{FF2B5EF4-FFF2-40B4-BE49-F238E27FC236}">
                <a16:creationId xmlns:a16="http://schemas.microsoft.com/office/drawing/2014/main" id="{6BB1C80B-8742-DBC8-30A1-D15F97C19C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025" y="3321154"/>
            <a:ext cx="8753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EC78468-D72E-4E91-8868-ADD452578F81}"/>
              </a:ext>
            </a:extLst>
          </p:cNvPr>
          <p:cNvSpPr txBox="1"/>
          <p:nvPr/>
        </p:nvSpPr>
        <p:spPr>
          <a:xfrm>
            <a:off x="286226" y="3200633"/>
            <a:ext cx="7025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/>
              <a:t>Аналіз фактичних параметрів заварювання та </a:t>
            </a:r>
            <a:r>
              <a:rPr lang="uk-UA" sz="1600" b="1" dirty="0"/>
              <a:t>виявлення відхилень</a:t>
            </a:r>
            <a:r>
              <a:rPr lang="uk-UA" sz="1600" dirty="0"/>
              <a:t>.</a:t>
            </a:r>
            <a:endParaRPr lang="uk-UA" sz="16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50" name="Google Shape;108;p13">
            <a:extLst>
              <a:ext uri="{FF2B5EF4-FFF2-40B4-BE49-F238E27FC236}">
                <a16:creationId xmlns:a16="http://schemas.microsoft.com/office/drawing/2014/main" id="{C7DC6E61-2C94-F71C-2443-82FB9D0BEF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075" y="3739566"/>
            <a:ext cx="8753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D20366A-672D-7625-F689-C4F13792583C}"/>
              </a:ext>
            </a:extLst>
          </p:cNvPr>
          <p:cNvSpPr txBox="1"/>
          <p:nvPr/>
        </p:nvSpPr>
        <p:spPr>
          <a:xfrm>
            <a:off x="305276" y="3619045"/>
            <a:ext cx="7025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/>
              <a:t>Автоматичне </a:t>
            </a:r>
            <a:r>
              <a:rPr lang="uk-UA" sz="1600" b="1" dirty="0"/>
              <a:t>збереження історії </a:t>
            </a:r>
            <a:r>
              <a:rPr lang="uk-UA" sz="1600" dirty="0"/>
              <a:t>сесій приготування.</a:t>
            </a:r>
            <a:endParaRPr lang="uk-UA" sz="16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54" name="Google Shape;108;p13">
            <a:extLst>
              <a:ext uri="{FF2B5EF4-FFF2-40B4-BE49-F238E27FC236}">
                <a16:creationId xmlns:a16="http://schemas.microsoft.com/office/drawing/2014/main" id="{F1981940-8365-1BC2-BB33-98F7DB4843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025" y="4165952"/>
            <a:ext cx="8753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9BD3FE8-7CEF-0C4C-238E-6D0992AB8272}"/>
              </a:ext>
            </a:extLst>
          </p:cNvPr>
          <p:cNvSpPr txBox="1"/>
          <p:nvPr/>
        </p:nvSpPr>
        <p:spPr>
          <a:xfrm>
            <a:off x="286226" y="4045431"/>
            <a:ext cx="7025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/>
              <a:t>Формування </a:t>
            </a:r>
            <a:r>
              <a:rPr lang="uk-UA" sz="1600" b="1" dirty="0"/>
              <a:t>рекомендацій</a:t>
            </a:r>
            <a:r>
              <a:rPr lang="uk-UA" sz="1600" dirty="0"/>
              <a:t> у режимі </a:t>
            </a:r>
            <a:r>
              <a:rPr lang="uk-UA" sz="1600" b="1" dirty="0"/>
              <a:t>реального часу</a:t>
            </a:r>
            <a:r>
              <a:rPr lang="uk-UA" sz="1600" dirty="0"/>
              <a:t>.</a:t>
            </a:r>
            <a:endParaRPr lang="uk-UA" sz="1600" dirty="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5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6769893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1819275" y="571500"/>
            <a:ext cx="36729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Варіанти використання</a:t>
            </a:r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82460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18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18"/>
          <p:cNvCxnSpPr>
            <a:stCxn id="196" idx="3"/>
          </p:cNvCxnSpPr>
          <p:nvPr/>
        </p:nvCxnSpPr>
        <p:spPr>
          <a:xfrm>
            <a:off x="5492175" y="733083"/>
            <a:ext cx="5494500" cy="1616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0" name="Google Shape;20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606803" y="1923403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Основна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логіка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розділена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між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трьома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ключовими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акторами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які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взаємодіють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досягнення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результату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1035428" y="2675878"/>
            <a:ext cx="4857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Користувач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Здійснює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управління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рецептами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запускає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процес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заварювання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кави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веде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журнал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збережених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сесій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1035428" y="3637903"/>
            <a:ext cx="4857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IoT-</a:t>
            </a:r>
            <a:r>
              <a:rPr lang="en-US" sz="1350" b="0" i="0" u="none" strike="noStrike" cap="none" dirty="0" err="1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ваги</a:t>
            </a:r>
            <a:r>
              <a:rPr lang="en-US" sz="1350" b="0" i="0" u="none" strike="noStrike" cap="none" dirty="0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(ESP32):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Відповідають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безперервне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отримання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передачу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телеметрії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поточна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вага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швидкість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потоку</a:t>
            </a:r>
            <a:r>
              <a:rPr lang="en-US" sz="1350" b="0" i="0" u="none" strike="noStrike" cap="none" dirty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6803" y="327117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6878" y="416407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27750" y="0"/>
            <a:ext cx="596425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571500" y="5462588"/>
            <a:ext cx="2859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333069" y="4553030"/>
            <a:ext cx="70235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D9622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login</a:t>
            </a:r>
            <a:endParaRPr sz="2000" b="1" dirty="0">
              <a:solidFill>
                <a:srgbClr val="D9622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035428" y="4599926"/>
            <a:ext cx="4857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0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Google OAuth:</a:t>
            </a:r>
            <a:r>
              <a:rPr lang="en-US" sz="1249" b="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 Забезпечує безпечну авторизацію та ідентифікацію користувача в системі через сторонній сервіс.</a:t>
            </a:r>
            <a:endParaRPr sz="1249" b="0">
              <a:solidFill>
                <a:srgbClr val="1C19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BD2A03B-AE52-1FB4-834A-4F245A2ACA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94C20F1-1454-6E6E-8193-22FB76994CA6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5663951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1819275" y="571500"/>
            <a:ext cx="37468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Вибір технологій розробки</a:t>
            </a:r>
            <a:endParaRPr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9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19"/>
          <p:cNvCxnSpPr>
            <a:stCxn id="218" idx="3"/>
          </p:cNvCxnSpPr>
          <p:nvPr/>
        </p:nvCxnSpPr>
        <p:spPr>
          <a:xfrm>
            <a:off x="5566149" y="723900"/>
            <a:ext cx="665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2" name="Google Shape;22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9907" y="215830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580411" y="3729925"/>
            <a:ext cx="137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Native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382750" y="4006975"/>
            <a:ext cx="1767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Мобільний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застосунок</a:t>
            </a:r>
            <a:endParaRPr dirty="0"/>
          </a:p>
        </p:txBody>
      </p:sp>
      <p:pic>
        <p:nvPicPr>
          <p:cNvPr id="225" name="Google Shape;22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93833" y="215830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3314423" y="3729925"/>
            <a:ext cx="1092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2908083" y="4044250"/>
            <a:ext cx="1905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Серверна частина (API)</a:t>
            </a:r>
            <a:endParaRPr/>
          </a:p>
        </p:txBody>
      </p:sp>
      <p:pic>
        <p:nvPicPr>
          <p:cNvPr id="228" name="Google Shape;22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70618" y="215830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5494725" y="3729925"/>
            <a:ext cx="148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5787758" y="4044250"/>
            <a:ext cx="899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База даних</a:t>
            </a:r>
            <a:endParaRPr/>
          </a:p>
        </p:txBody>
      </p:sp>
      <p:pic>
        <p:nvPicPr>
          <p:cNvPr id="231" name="Google Shape;23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19933" y="215830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8137138" y="3729925"/>
            <a:ext cx="89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7661653" y="4044250"/>
            <a:ext cx="1850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Апаратна частина (IoT)</a:t>
            </a:r>
            <a:endParaRPr/>
          </a:p>
        </p:txBody>
      </p:sp>
      <p:pic>
        <p:nvPicPr>
          <p:cNvPr id="234" name="Google Shape;234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69225" y="2082412"/>
            <a:ext cx="1485300" cy="14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0323950" y="3729925"/>
            <a:ext cx="148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/>
              <a:t>Websocket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10616983" y="4044250"/>
            <a:ext cx="8991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555555"/>
                </a:solidFill>
              </a:rPr>
              <a:t>Дані</a:t>
            </a:r>
            <a:r>
              <a:rPr lang="en-US" sz="1350" dirty="0">
                <a:solidFill>
                  <a:srgbClr val="555555"/>
                </a:solidFill>
              </a:rPr>
              <a:t> в </a:t>
            </a:r>
            <a:r>
              <a:rPr lang="en-US" sz="1350" dirty="0" err="1">
                <a:solidFill>
                  <a:srgbClr val="555555"/>
                </a:solidFill>
              </a:rPr>
              <a:t>реальному</a:t>
            </a:r>
            <a:r>
              <a:rPr lang="en-US" sz="1350" dirty="0">
                <a:solidFill>
                  <a:srgbClr val="555555"/>
                </a:solidFill>
              </a:rPr>
              <a:t> </a:t>
            </a:r>
            <a:r>
              <a:rPr lang="en-US" sz="1350" dirty="0" err="1">
                <a:solidFill>
                  <a:srgbClr val="555555"/>
                </a:solidFill>
              </a:rPr>
              <a:t>часі</a:t>
            </a:r>
            <a:endParaRPr dirty="0"/>
          </a:p>
        </p:txBody>
      </p:sp>
      <p:pic>
        <p:nvPicPr>
          <p:cNvPr id="237" name="Google Shape;237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76D5961-BCA7-F93F-FCA5-34A937E536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333976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79BB559-15C5-02A3-85FC-1DD8FDCFF43D}"/>
              </a:ext>
            </a:extLst>
          </p:cNvPr>
          <p:cNvSpPr/>
          <p:nvPr/>
        </p:nvSpPr>
        <p:spPr>
          <a:xfrm>
            <a:off x="333069" y="6266763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1012"/>
            <a:ext cx="4847034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1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1819275" y="566737"/>
            <a:ext cx="288911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Архітектура системи</a:t>
            </a:r>
            <a:endParaRPr/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604837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20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20"/>
          <p:cNvCxnSpPr>
            <a:stCxn id="244" idx="3"/>
          </p:cNvCxnSpPr>
          <p:nvPr/>
        </p:nvCxnSpPr>
        <p:spPr>
          <a:xfrm>
            <a:off x="4708386" y="719137"/>
            <a:ext cx="75135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8" name="Google Shape;24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9976" y="0"/>
            <a:ext cx="736446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200025" y="1018938"/>
            <a:ext cx="470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52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Клієнт-серверна взаємодія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200025" y="1504713"/>
            <a:ext cx="4482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Система "Bloom" побудована на сучасній розподіленій архітектурі, що об'єднує програмні та апаратні компоненти:</a:t>
            </a:r>
            <a:endParaRPr/>
          </a:p>
        </p:txBody>
      </p:sp>
      <p:grpSp>
        <p:nvGrpSpPr>
          <p:cNvPr id="251" name="Google Shape;251;p20"/>
          <p:cNvGrpSpPr/>
          <p:nvPr/>
        </p:nvGrpSpPr>
        <p:grpSpPr>
          <a:xfrm>
            <a:off x="192142" y="2659850"/>
            <a:ext cx="4433822" cy="1071300"/>
            <a:chOff x="192142" y="2659850"/>
            <a:chExt cx="4433822" cy="1071300"/>
          </a:xfrm>
        </p:grpSpPr>
        <p:sp>
          <p:nvSpPr>
            <p:cNvPr id="252" name="Google Shape;252;p20"/>
            <p:cNvSpPr txBox="1"/>
            <p:nvPr/>
          </p:nvSpPr>
          <p:spPr>
            <a:xfrm>
              <a:off x="506364" y="2659850"/>
              <a:ext cx="4119600" cy="107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57534E"/>
                  </a:solidFill>
                  <a:latin typeface="Inter"/>
                  <a:ea typeface="Inter"/>
                  <a:cs typeface="Inter"/>
                  <a:sym typeface="Inter"/>
                </a:rPr>
                <a:t>Мобільний клієнт:</a:t>
              </a:r>
              <a:r>
                <a:rPr lang="en-US" sz="1200" b="0" i="0" u="none" strike="noStrike" cap="none">
                  <a:solidFill>
                    <a:srgbClr val="57534E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00">
                  <a:solidFill>
                    <a:srgbClr val="57534E"/>
                  </a:solidFill>
                  <a:latin typeface="Inter"/>
                  <a:ea typeface="Inter"/>
                  <a:cs typeface="Inter"/>
                  <a:sym typeface="Inter"/>
                </a:rPr>
                <a:t>Мобільний клієнт (React Native): Відповідає за представлення даних. Взаємодіє з бекендом через REST API для авторизації (OAuth) та управління базою рецептів.</a:t>
              </a:r>
              <a:endParaRPr sz="1200"/>
            </a:p>
          </p:txBody>
        </p:sp>
        <p:pic>
          <p:nvPicPr>
            <p:cNvPr id="253" name="Google Shape;253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2142" y="2688425"/>
              <a:ext cx="14539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20"/>
          <p:cNvGrpSpPr/>
          <p:nvPr/>
        </p:nvGrpSpPr>
        <p:grpSpPr>
          <a:xfrm>
            <a:off x="142875" y="3778438"/>
            <a:ext cx="4483089" cy="1071300"/>
            <a:chOff x="142875" y="3507575"/>
            <a:chExt cx="4483089" cy="1071300"/>
          </a:xfrm>
        </p:grpSpPr>
        <p:sp>
          <p:nvSpPr>
            <p:cNvPr id="255" name="Google Shape;255;p20"/>
            <p:cNvSpPr txBox="1"/>
            <p:nvPr/>
          </p:nvSpPr>
          <p:spPr>
            <a:xfrm>
              <a:off x="506364" y="3507575"/>
              <a:ext cx="4119600" cy="107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57534E"/>
                  </a:solidFill>
                  <a:latin typeface="Inter"/>
                  <a:ea typeface="Inter"/>
                  <a:cs typeface="Inter"/>
                  <a:sym typeface="Inter"/>
                </a:rPr>
                <a:t>IoT-компонент (ESP32): </a:t>
              </a:r>
              <a:r>
                <a:rPr lang="en-US" sz="1200">
                  <a:solidFill>
                    <a:srgbClr val="57534E"/>
                  </a:solidFill>
                  <a:latin typeface="Inter"/>
                  <a:ea typeface="Inter"/>
                  <a:cs typeface="Inter"/>
                  <a:sym typeface="Inter"/>
                </a:rPr>
                <a:t>Здійснює збір апаратної телеметрії з тензодатчика (HX711) та безперервно передає дані про вагу і швидкість проливу через протокол WebSocket.</a:t>
              </a:r>
              <a:endParaRPr sz="1200"/>
            </a:p>
          </p:txBody>
        </p:sp>
        <p:pic>
          <p:nvPicPr>
            <p:cNvPr id="256" name="Google Shape;256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42875" y="3536150"/>
              <a:ext cx="242326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0"/>
          <p:cNvSpPr txBox="1"/>
          <p:nvPr/>
        </p:nvSpPr>
        <p:spPr>
          <a:xfrm>
            <a:off x="506264" y="4897025"/>
            <a:ext cx="41196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Серверна частина (FastAPI): </a:t>
            </a:r>
            <a:r>
              <a:rPr lang="en-US" sz="1200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Виконує роль центрального ядра та брокера повідомлень. Обробляє REST-запити, взаємодіє з БД PostgreSQL та забезпечує двосторонню маршрутизацію потокових даних між вагами та застосунком у реальному часі.</a:t>
            </a:r>
            <a:endParaRPr sz="1200"/>
          </a:p>
        </p:txBody>
      </p:sp>
      <p:pic>
        <p:nvPicPr>
          <p:cNvPr id="258" name="Google Shape;25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1250" y="126552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2875" y="4950416"/>
            <a:ext cx="21101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5170146-E1AE-2ED9-ADDB-0C172B79C5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2233" y="6421759"/>
            <a:ext cx="457868" cy="302779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A171004-CF63-DB51-0918-B0C692ADC6E4}"/>
              </a:ext>
            </a:extLst>
          </p:cNvPr>
          <p:cNvSpPr/>
          <p:nvPr/>
        </p:nvSpPr>
        <p:spPr>
          <a:xfrm>
            <a:off x="200025" y="6376988"/>
            <a:ext cx="411773" cy="4117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76250"/>
            <a:ext cx="6234261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762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1819275" y="561975"/>
            <a:ext cx="22914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Проєктування структури даних</a:t>
            </a:r>
            <a:endParaRPr sz="1600"/>
          </a:p>
        </p:txBody>
      </p:sp>
      <p:sp>
        <p:nvSpPr>
          <p:cNvPr id="286" name="Google Shape;286;p22"/>
          <p:cNvSpPr txBox="1"/>
          <p:nvPr/>
        </p:nvSpPr>
        <p:spPr>
          <a:xfrm>
            <a:off x="634700" y="2200025"/>
            <a:ext cx="34761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Використання реляційної СКБД PostgreSQL для підтримки зв'язків між сутностями.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581025" y="3515825"/>
            <a:ext cx="35298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Розділення статичних даних (рецепти) та динамічних даних (сесії, сенсорні показники).</a:t>
            </a:r>
            <a:endParaRPr/>
          </a:p>
        </p:txBody>
      </p:sp>
      <p:pic>
        <p:nvPicPr>
          <p:cNvPr id="288" name="Google Shape;28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72935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22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2"/>
          <p:cNvCxnSpPr/>
          <p:nvPr/>
        </p:nvCxnSpPr>
        <p:spPr>
          <a:xfrm>
            <a:off x="4110825" y="709575"/>
            <a:ext cx="60567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1" name="Google Shape;29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4425" y="1"/>
            <a:ext cx="7817579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1400" y="61434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482A72A-61D5-4103-C923-E6D611ABF2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4B22BC2-CB9D-F986-F589-690D507F6297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8700"/>
            <a:ext cx="696709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1152400" y="374425"/>
            <a:ext cx="3024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 інтерактивного супроводу</a:t>
            </a:r>
            <a:endParaRPr/>
          </a:p>
        </p:txBody>
      </p:sp>
      <p:pic>
        <p:nvPicPr>
          <p:cNvPr id="300" name="Google Shape;30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560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1552" y="9525"/>
            <a:ext cx="78510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1400" y="61434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2C130872-AB21-FE87-2EF5-DFB8B691E8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EDFDA10-3DC7-B049-DCEC-54F31431451A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76250"/>
            <a:ext cx="6234261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762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1819275" y="561975"/>
            <a:ext cx="2752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Приклад реалізації</a:t>
            </a:r>
            <a:endParaRPr sz="1600"/>
          </a:p>
        </p:txBody>
      </p:sp>
      <p:pic>
        <p:nvPicPr>
          <p:cNvPr id="310" name="Google Shape;31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72935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24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24"/>
          <p:cNvCxnSpPr/>
          <p:nvPr/>
        </p:nvCxnSpPr>
        <p:spPr>
          <a:xfrm>
            <a:off x="4959825" y="709575"/>
            <a:ext cx="724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3" name="Google Shape;313;p24" title="cod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675" y="-410550"/>
            <a:ext cx="6766076" cy="7532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531800" y="1445175"/>
            <a:ext cx="5189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Функція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забезпечує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realtime-обробку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даних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 з IoT-</a:t>
            </a: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пристрою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:</a:t>
            </a:r>
            <a:endParaRPr sz="17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ESP32 → </a:t>
            </a:r>
            <a:r>
              <a:rPr lang="en-US" sz="1700" dirty="0" err="1">
                <a:latin typeface="Inter"/>
                <a:ea typeface="Inter"/>
                <a:cs typeface="Inter"/>
                <a:sym typeface="Inter"/>
              </a:rPr>
              <a:t>FastAPI</a:t>
            </a:r>
            <a:r>
              <a:rPr lang="en-US" sz="1700" dirty="0">
                <a:latin typeface="Inter"/>
                <a:ea typeface="Inter"/>
                <a:cs typeface="Inter"/>
                <a:sym typeface="Inter"/>
              </a:rPr>
              <a:t> → PostgreSQL → Mobile App</a:t>
            </a:r>
            <a:endParaRPr sz="17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663175" y="2824650"/>
            <a:ext cx="5364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показники ваги зберігаються у БД;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мобільний застосунок отримує оновлення без перезавантаження;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дані прив’язуються до конкретної сесії заварювання.</a:t>
            </a:r>
            <a:endParaRPr sz="1800"/>
          </a:p>
        </p:txBody>
      </p:sp>
      <p:pic>
        <p:nvPicPr>
          <p:cNvPr id="316" name="Google Shape;31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2839" y="6057751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F2534E9-3C58-3780-B312-41193DF35D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21BE900-7397-495C-2CF1-111DEE251AD1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5"/>
          <p:cNvGrpSpPr/>
          <p:nvPr/>
        </p:nvGrpSpPr>
        <p:grpSpPr>
          <a:xfrm>
            <a:off x="1152525" y="381000"/>
            <a:ext cx="9887100" cy="619125"/>
            <a:chOff x="1152525" y="381000"/>
            <a:chExt cx="9887100" cy="619125"/>
          </a:xfrm>
        </p:grpSpPr>
        <p:pic>
          <p:nvPicPr>
            <p:cNvPr id="322" name="Google Shape;322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52525" y="381000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76350" y="504825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25"/>
            <p:cNvSpPr txBox="1"/>
            <p:nvPr/>
          </p:nvSpPr>
          <p:spPr>
            <a:xfrm>
              <a:off x="1819275" y="428625"/>
              <a:ext cx="571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err="1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Інтерфейс</a:t>
              </a:r>
              <a:r>
                <a:rPr lang="en-US" sz="2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800" b="1" dirty="0" err="1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користувача</a:t>
              </a:r>
              <a:endParaRPr sz="2800" b="1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" name="Google Shape;325;p25"/>
            <p:cNvCxnSpPr/>
            <p:nvPr/>
          </p:nvCxnSpPr>
          <p:spPr>
            <a:xfrm>
              <a:off x="1152525" y="1000125"/>
              <a:ext cx="98871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26" name="Google Shape;32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4311" y="1326380"/>
            <a:ext cx="2142998" cy="435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70796" y="1422016"/>
            <a:ext cx="1930028" cy="4165184"/>
          </a:xfrm>
          <a:prstGeom prst="flowChartAlternateProcess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C39F808-EC28-4022-B4E3-A18F057908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AB1FCDAB-DC31-3E73-BEC7-17DB0C2D0AA3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846AF450-F7D0-AF28-932B-4BBC3423E3D2}"/>
              </a:ext>
            </a:extLst>
          </p:cNvPr>
          <p:cNvGrpSpPr/>
          <p:nvPr/>
        </p:nvGrpSpPr>
        <p:grpSpPr>
          <a:xfrm>
            <a:off x="9477066" y="1326380"/>
            <a:ext cx="2143434" cy="4357343"/>
            <a:chOff x="9366775" y="261900"/>
            <a:chExt cx="2972950" cy="6043649"/>
          </a:xfrm>
        </p:grpSpPr>
        <p:pic>
          <p:nvPicPr>
            <p:cNvPr id="2" name="Google Shape;354;p26" descr="image.png">
              <a:extLst>
                <a:ext uri="{FF2B5EF4-FFF2-40B4-BE49-F238E27FC236}">
                  <a16:creationId xmlns:a16="http://schemas.microsoft.com/office/drawing/2014/main" id="{C07F5CE7-4988-B262-5520-0A95AE759E8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66775" y="261900"/>
              <a:ext cx="2972950" cy="6043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355;p26" title="зображення_2026-06-24_195022855.png">
              <a:extLst>
                <a:ext uri="{FF2B5EF4-FFF2-40B4-BE49-F238E27FC236}">
                  <a16:creationId xmlns:a16="http://schemas.microsoft.com/office/drawing/2014/main" id="{1222F3E0-7158-2E87-DE5D-19BD1DD4FAB4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 t="1447" b="1437"/>
            <a:stretch/>
          </p:blipFill>
          <p:spPr>
            <a:xfrm>
              <a:off x="9514500" y="428625"/>
              <a:ext cx="2677500" cy="5778300"/>
            </a:xfrm>
            <a:prstGeom prst="flowChartAlternateProcess">
              <a:avLst/>
            </a:prstGeom>
            <a:noFill/>
            <a:ln>
              <a:noFill/>
            </a:ln>
          </p:spPr>
        </p:pic>
        <p:sp>
          <p:nvSpPr>
            <p:cNvPr id="336" name="Google Shape;336;p25"/>
            <p:cNvSpPr/>
            <p:nvPr/>
          </p:nvSpPr>
          <p:spPr>
            <a:xfrm>
              <a:off x="10519800" y="517575"/>
              <a:ext cx="666900" cy="133500"/>
            </a:xfrm>
            <a:prstGeom prst="roundRect">
              <a:avLst>
                <a:gd name="adj" fmla="val 50000"/>
              </a:avLst>
            </a:prstGeom>
            <a:solidFill>
              <a:srgbClr val="292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" name="Google Shape;92;p13" descr="image.png">
            <a:extLst>
              <a:ext uri="{FF2B5EF4-FFF2-40B4-BE49-F238E27FC236}">
                <a16:creationId xmlns:a16="http://schemas.microsoft.com/office/drawing/2014/main" id="{7D4135C0-761A-383D-6C6C-8DCCFA9ECE5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8125" y="130371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93;p13">
            <a:extLst>
              <a:ext uri="{FF2B5EF4-FFF2-40B4-BE49-F238E27FC236}">
                <a16:creationId xmlns:a16="http://schemas.microsoft.com/office/drawing/2014/main" id="{0F185654-2363-FBC3-7318-265EEFFE1B00}"/>
              </a:ext>
            </a:extLst>
          </p:cNvPr>
          <p:cNvSpPr txBox="1"/>
          <p:nvPr/>
        </p:nvSpPr>
        <p:spPr>
          <a:xfrm>
            <a:off x="1332963" y="1113210"/>
            <a:ext cx="50706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Ергономіка та навігація</a:t>
            </a:r>
            <a:endParaRPr/>
          </a:p>
        </p:txBody>
      </p:sp>
      <p:sp>
        <p:nvSpPr>
          <p:cNvPr id="40" name="Google Shape;94;p13">
            <a:extLst>
              <a:ext uri="{FF2B5EF4-FFF2-40B4-BE49-F238E27FC236}">
                <a16:creationId xmlns:a16="http://schemas.microsoft.com/office/drawing/2014/main" id="{49F7238C-CC61-62CA-F54F-F05442DF3A59}"/>
              </a:ext>
            </a:extLst>
          </p:cNvPr>
          <p:cNvSpPr txBox="1"/>
          <p:nvPr/>
        </p:nvSpPr>
        <p:spPr>
          <a:xfrm>
            <a:off x="1332963" y="1560885"/>
            <a:ext cx="48291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Карткова система та інтегрований пошук дозволяють миттєво орієнтуватися в базі рецептів без перевантаження візуального простору.</a:t>
            </a:r>
            <a:endParaRPr/>
          </a:p>
        </p:txBody>
      </p:sp>
      <p:pic>
        <p:nvPicPr>
          <p:cNvPr id="41" name="Google Shape;95;p13" descr="image.png">
            <a:extLst>
              <a:ext uri="{FF2B5EF4-FFF2-40B4-BE49-F238E27FC236}">
                <a16:creationId xmlns:a16="http://schemas.microsoft.com/office/drawing/2014/main" id="{884C75FC-7394-56F3-A8FA-E98C1F4BACC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3363" y="298963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96;p13">
            <a:extLst>
              <a:ext uri="{FF2B5EF4-FFF2-40B4-BE49-F238E27FC236}">
                <a16:creationId xmlns:a16="http://schemas.microsoft.com/office/drawing/2014/main" id="{C8E0431F-CFD6-62B9-B766-E6B3A92BE604}"/>
              </a:ext>
            </a:extLst>
          </p:cNvPr>
          <p:cNvSpPr txBox="1"/>
          <p:nvPr/>
        </p:nvSpPr>
        <p:spPr>
          <a:xfrm>
            <a:off x="1332963" y="2799135"/>
            <a:ext cx="50706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Інтеграція апаратних даних</a:t>
            </a:r>
            <a:endParaRPr/>
          </a:p>
        </p:txBody>
      </p:sp>
      <p:sp>
        <p:nvSpPr>
          <p:cNvPr id="43" name="Google Shape;97;p13">
            <a:extLst>
              <a:ext uri="{FF2B5EF4-FFF2-40B4-BE49-F238E27FC236}">
                <a16:creationId xmlns:a16="http://schemas.microsoft.com/office/drawing/2014/main" id="{17CA955D-70F0-B251-526F-6CCF44FC2C32}"/>
              </a:ext>
            </a:extLst>
          </p:cNvPr>
          <p:cNvSpPr txBox="1"/>
          <p:nvPr/>
        </p:nvSpPr>
        <p:spPr>
          <a:xfrm>
            <a:off x="1332963" y="3246810"/>
            <a:ext cx="48291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Інтерфейс органічно поєднує повсякденне керування контентом із технічним моніторингом, виводячи статус WebSocket-з'єднання на перший план.</a:t>
            </a:r>
            <a:endParaRPr/>
          </a:p>
        </p:txBody>
      </p:sp>
      <p:pic>
        <p:nvPicPr>
          <p:cNvPr id="44" name="Google Shape;98;p13" descr="image.png">
            <a:extLst>
              <a:ext uri="{FF2B5EF4-FFF2-40B4-BE49-F238E27FC236}">
                <a16:creationId xmlns:a16="http://schemas.microsoft.com/office/drawing/2014/main" id="{8F3E1416-9B95-0C98-806B-AD9CF3275CF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2248" y="4778152"/>
            <a:ext cx="236262" cy="27356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99;p13">
            <a:extLst>
              <a:ext uri="{FF2B5EF4-FFF2-40B4-BE49-F238E27FC236}">
                <a16:creationId xmlns:a16="http://schemas.microsoft.com/office/drawing/2014/main" id="{F2907232-16C2-47ED-9B3D-28D7EA14C56B}"/>
              </a:ext>
            </a:extLst>
          </p:cNvPr>
          <p:cNvSpPr txBox="1"/>
          <p:nvPr/>
        </p:nvSpPr>
        <p:spPr>
          <a:xfrm>
            <a:off x="1332963" y="4770810"/>
            <a:ext cx="50706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Фокус на процесі</a:t>
            </a:r>
            <a:endParaRPr/>
          </a:p>
        </p:txBody>
      </p:sp>
      <p:sp>
        <p:nvSpPr>
          <p:cNvPr id="46" name="Google Shape;100;p13">
            <a:extLst>
              <a:ext uri="{FF2B5EF4-FFF2-40B4-BE49-F238E27FC236}">
                <a16:creationId xmlns:a16="http://schemas.microsoft.com/office/drawing/2014/main" id="{91E674C4-C3E8-FCCA-C71D-7EC00A64FDF1}"/>
              </a:ext>
            </a:extLst>
          </p:cNvPr>
          <p:cNvSpPr txBox="1"/>
          <p:nvPr/>
        </p:nvSpPr>
        <p:spPr>
          <a:xfrm>
            <a:off x="1332963" y="5218485"/>
            <a:ext cx="48291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Структура екранів адаптується під поточне завдання користувача, концентруючи увагу виключно на показниках, необхідних у конкретний момент заварювання.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1012"/>
            <a:ext cx="4847034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1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 txBox="1"/>
          <p:nvPr/>
        </p:nvSpPr>
        <p:spPr>
          <a:xfrm>
            <a:off x="1819275" y="566725"/>
            <a:ext cx="303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/>
              <a:t>Тестування</a:t>
            </a:r>
            <a:endParaRPr/>
          </a:p>
        </p:txBody>
      </p:sp>
      <p:pic>
        <p:nvPicPr>
          <p:cNvPr id="384" name="Google Shape;38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604837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28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28"/>
          <p:cNvCxnSpPr/>
          <p:nvPr/>
        </p:nvCxnSpPr>
        <p:spPr>
          <a:xfrm>
            <a:off x="3974475" y="719925"/>
            <a:ext cx="83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87" name="Google Shape;387;p28"/>
          <p:cNvGraphicFramePr/>
          <p:nvPr/>
        </p:nvGraphicFramePr>
        <p:xfrm>
          <a:off x="298788" y="1192660"/>
          <a:ext cx="11594425" cy="5047850"/>
        </p:xfrm>
        <a:graphic>
          <a:graphicData uri="http://schemas.openxmlformats.org/drawingml/2006/table">
            <a:tbl>
              <a:tblPr firstRow="1" bandRow="1">
                <a:noFill/>
                <a:tableStyleId>{035D33D0-2804-4F60-9E43-DC5B89BF918D}</a:tableStyleId>
              </a:tblPr>
              <a:tblGrid>
                <a:gridCol w="1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F46E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F46E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Тестовий випадок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F46E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Очікуваний результат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F46E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Статус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TC-01/02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Авторизація користувача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Успішне створення та вхід в обліковий запис, перехід на головний екран.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Пройдено</a:t>
                      </a: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TC-11/12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Покроковий супровід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Коректна робота таймера та відображення підказок на кожному етапі заварювання.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Пройдено</a:t>
                      </a: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TC-13/15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Телеметрія IoT-ваг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Отримання даних про вагу/потік через WebSockets та їх оновлення в UI в реальному часі.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Пройдено</a:t>
                      </a: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Збереження в PostgreSQL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Автоматичне логування сенсорних даних та результатів сесії до бази даних.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Пройдено</a:t>
                      </a: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TC-23/24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Обробка помилок та стабільність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Коректна реакція на відсутність зв'язку з вагами; стабільна робота основного сценарію.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Пройдено</a:t>
                      </a:r>
                      <a:b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8" name="Google Shape;388;p28"/>
          <p:cNvSpPr/>
          <p:nvPr/>
        </p:nvSpPr>
        <p:spPr>
          <a:xfrm>
            <a:off x="571500" y="2359223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1676400" y="2359223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571500" y="3035498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1676400" y="3035498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571500" y="3711773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1676400" y="3711773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571500" y="4388048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1676400" y="4388048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571500" y="5064323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1676400" y="5064323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571500" y="5740598"/>
            <a:ext cx="1104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1676400" y="5740598"/>
            <a:ext cx="331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97411BC-BA34-8E7D-CCCE-B41311FAD6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98788" y="6362277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1DFDD59-FB77-E18C-BBB5-62458D5DABDE}"/>
              </a:ext>
            </a:extLst>
          </p:cNvPr>
          <p:cNvSpPr/>
          <p:nvPr/>
        </p:nvSpPr>
        <p:spPr>
          <a:xfrm>
            <a:off x="326581" y="6295064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1012"/>
            <a:ext cx="4847034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10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 txBox="1"/>
          <p:nvPr/>
        </p:nvSpPr>
        <p:spPr>
          <a:xfrm>
            <a:off x="1819275" y="566725"/>
            <a:ext cx="303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/>
              <a:t>Публікація результатів</a:t>
            </a:r>
            <a:endParaRPr/>
          </a:p>
        </p:txBody>
      </p:sp>
      <p:pic>
        <p:nvPicPr>
          <p:cNvPr id="408" name="Google Shape;40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604837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29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9"/>
          <p:cNvCxnSpPr>
            <a:cxnSpLocks/>
          </p:cNvCxnSpPr>
          <p:nvPr/>
        </p:nvCxnSpPr>
        <p:spPr>
          <a:xfrm>
            <a:off x="3633377" y="719850"/>
            <a:ext cx="873654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1" name="Google Shape;41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9725" y="983225"/>
            <a:ext cx="6732149" cy="47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25" y="2062187"/>
            <a:ext cx="4884925" cy="32346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786E891-6085-BA6C-8AA2-68FB21DD49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CAF4679-C188-D933-3B2D-D1A68CEDDA9E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485775"/>
            <a:ext cx="338583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857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/>
        </p:nvSpPr>
        <p:spPr>
          <a:xfrm>
            <a:off x="1819275" y="571500"/>
            <a:ext cx="135485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Висновки</a:t>
            </a:r>
            <a:endParaRPr/>
          </a:p>
        </p:txBody>
      </p:sp>
      <p:pic>
        <p:nvPicPr>
          <p:cNvPr id="421" name="Google Shape;42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210" y="582460"/>
            <a:ext cx="282878" cy="28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30"/>
          <p:cNvCxnSpPr/>
          <p:nvPr/>
        </p:nvCxnSpPr>
        <p:spPr>
          <a:xfrm>
            <a:off x="9525" y="723900"/>
            <a:ext cx="8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3" name="Google Shape;423;p30"/>
          <p:cNvCxnSpPr>
            <a:stCxn id="418" idx="3"/>
          </p:cNvCxnSpPr>
          <p:nvPr/>
        </p:nvCxnSpPr>
        <p:spPr>
          <a:xfrm>
            <a:off x="3395364" y="723900"/>
            <a:ext cx="8826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4" name="Google Shape;42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8225" y="6009977"/>
            <a:ext cx="958497" cy="6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0"/>
          <p:cNvSpPr txBox="1"/>
          <p:nvPr/>
        </p:nvSpPr>
        <p:spPr>
          <a:xfrm>
            <a:off x="1400550" y="1612650"/>
            <a:ext cx="93909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/>
              <a:t>• </a:t>
            </a:r>
            <a:r>
              <a:rPr lang="en-US" sz="2000" dirty="0" err="1"/>
              <a:t>Розроблений</a:t>
            </a:r>
            <a:r>
              <a:rPr lang="en-US" sz="2000" dirty="0"/>
              <a:t> </a:t>
            </a:r>
            <a:r>
              <a:rPr lang="en-US" sz="2000" dirty="0" err="1"/>
              <a:t>функціональний</a:t>
            </a:r>
            <a:r>
              <a:rPr lang="en-US" sz="2000" dirty="0"/>
              <a:t> </a:t>
            </a:r>
            <a:r>
              <a:rPr lang="en-US" sz="2000" dirty="0" err="1"/>
              <a:t>прототип</a:t>
            </a:r>
            <a:r>
              <a:rPr lang="en-US" sz="2000" dirty="0"/>
              <a:t> </a:t>
            </a:r>
            <a:r>
              <a:rPr lang="en-US" sz="2000" dirty="0" err="1"/>
              <a:t>підтверджує</a:t>
            </a:r>
            <a:r>
              <a:rPr lang="en-US" sz="2000" dirty="0"/>
              <a:t> </a:t>
            </a:r>
            <a:r>
              <a:rPr lang="en-US" sz="2000" dirty="0" err="1"/>
              <a:t>практичну</a:t>
            </a:r>
            <a:r>
              <a:rPr lang="en-US" sz="2000" dirty="0"/>
              <a:t> </a:t>
            </a:r>
            <a:r>
              <a:rPr lang="en-US" sz="2000" dirty="0" err="1"/>
              <a:t>реалістичність</a:t>
            </a:r>
            <a:r>
              <a:rPr lang="en-US" sz="2000" dirty="0"/>
              <a:t> </a:t>
            </a:r>
            <a:r>
              <a:rPr lang="en-US" sz="2000" dirty="0" err="1"/>
              <a:t>системи</a:t>
            </a:r>
            <a:r>
              <a:rPr lang="en-US" sz="2000" dirty="0"/>
              <a:t> </a:t>
            </a:r>
            <a:r>
              <a:rPr lang="en-US" sz="2000" dirty="0" err="1"/>
              <a:t>та</a:t>
            </a:r>
            <a:r>
              <a:rPr lang="en-US" sz="2000" dirty="0"/>
              <a:t> </a:t>
            </a:r>
            <a:r>
              <a:rPr lang="en-US" sz="2000" dirty="0" err="1"/>
              <a:t>її</a:t>
            </a:r>
            <a:r>
              <a:rPr lang="en-US" sz="2000" dirty="0"/>
              <a:t> </a:t>
            </a:r>
            <a:r>
              <a:rPr lang="en-US" sz="2000" dirty="0" err="1"/>
              <a:t>користь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точнішого</a:t>
            </a:r>
            <a:r>
              <a:rPr lang="en-US" sz="2000" dirty="0"/>
              <a:t> й </a:t>
            </a:r>
            <a:r>
              <a:rPr lang="en-US" sz="2000" dirty="0" err="1"/>
              <a:t>зручнішого</a:t>
            </a:r>
            <a:r>
              <a:rPr lang="en-US" sz="2000" dirty="0"/>
              <a:t> </a:t>
            </a:r>
            <a:r>
              <a:rPr lang="en-US" sz="2000" dirty="0" err="1"/>
              <a:t>приготування</a:t>
            </a:r>
            <a:r>
              <a:rPr lang="en-US" sz="2000" dirty="0"/>
              <a:t> </a:t>
            </a:r>
            <a:r>
              <a:rPr lang="en-US" sz="2000" dirty="0" err="1"/>
              <a:t>кави</a:t>
            </a:r>
            <a:r>
              <a:rPr lang="en-US" sz="2000" dirty="0"/>
              <a:t>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/>
              <a:t>• Bloom </a:t>
            </a:r>
            <a:r>
              <a:rPr lang="en-US" sz="2000" dirty="0" err="1"/>
              <a:t>може</a:t>
            </a:r>
            <a:r>
              <a:rPr lang="en-US" sz="2000" dirty="0"/>
              <a:t> </a:t>
            </a:r>
            <a:r>
              <a:rPr lang="en-US" sz="2000" dirty="0" err="1"/>
              <a:t>використовуватися</a:t>
            </a:r>
            <a:r>
              <a:rPr lang="en-US" sz="2000" dirty="0"/>
              <a:t> </a:t>
            </a:r>
            <a:r>
              <a:rPr lang="en-US" sz="2000" dirty="0" err="1"/>
              <a:t>домашніми</a:t>
            </a:r>
            <a:r>
              <a:rPr lang="en-US" sz="2000" dirty="0"/>
              <a:t> </a:t>
            </a:r>
            <a:r>
              <a:rPr lang="en-US" sz="2000" dirty="0" err="1"/>
              <a:t>користувачами</a:t>
            </a:r>
            <a:r>
              <a:rPr lang="en-US" sz="2000" dirty="0"/>
              <a:t>, </a:t>
            </a:r>
            <a:r>
              <a:rPr lang="en-US" sz="2000" dirty="0" err="1"/>
              <a:t>початківцями</a:t>
            </a:r>
            <a:r>
              <a:rPr lang="en-US" sz="2000" dirty="0"/>
              <a:t>, </a:t>
            </a:r>
            <a:r>
              <a:rPr lang="en-US" sz="2000" dirty="0" err="1"/>
              <a:t>досвідченими</a:t>
            </a:r>
            <a:r>
              <a:rPr lang="en-US" sz="2000" dirty="0"/>
              <a:t> </a:t>
            </a:r>
            <a:r>
              <a:rPr lang="en-US" sz="2000" dirty="0" err="1"/>
              <a:t>кавоманами</a:t>
            </a:r>
            <a:r>
              <a:rPr lang="en-US" sz="2000" dirty="0"/>
              <a:t> </a:t>
            </a:r>
            <a:r>
              <a:rPr lang="en-US" sz="2000" dirty="0" err="1"/>
              <a:t>та</a:t>
            </a:r>
            <a:r>
              <a:rPr lang="en-US" sz="2000" dirty="0"/>
              <a:t> </a:t>
            </a:r>
            <a:r>
              <a:rPr lang="en-US" sz="2000" dirty="0" err="1"/>
              <a:t>обсмажчиками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роботи</a:t>
            </a:r>
            <a:r>
              <a:rPr lang="en-US" sz="2000" dirty="0"/>
              <a:t> з </a:t>
            </a:r>
            <a:r>
              <a:rPr lang="en-US" sz="2000" dirty="0" err="1"/>
              <a:t>рецептами</a:t>
            </a:r>
            <a:r>
              <a:rPr lang="en-US" sz="2000" dirty="0"/>
              <a:t> й </a:t>
            </a:r>
            <a:r>
              <a:rPr lang="en-US" sz="2000" dirty="0" err="1"/>
              <a:t>рекомендаціями</a:t>
            </a:r>
            <a:r>
              <a:rPr lang="en-US" sz="2000" dirty="0"/>
              <a:t>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• </a:t>
            </a:r>
            <a:r>
              <a:rPr lang="en-US" sz="2000" dirty="0" err="1"/>
              <a:t>Подальший</a:t>
            </a:r>
            <a:r>
              <a:rPr lang="en-US" sz="2000" dirty="0"/>
              <a:t> </a:t>
            </a:r>
            <a:r>
              <a:rPr lang="en-US" sz="2000" dirty="0" err="1"/>
              <a:t>розвиток</a:t>
            </a:r>
            <a:r>
              <a:rPr lang="en-US" sz="2000" dirty="0"/>
              <a:t> </a:t>
            </a:r>
            <a:r>
              <a:rPr lang="en-US" sz="2000" dirty="0" err="1"/>
              <a:t>передбачає</a:t>
            </a:r>
            <a:r>
              <a:rPr lang="en-US" sz="2000" dirty="0"/>
              <a:t> </a:t>
            </a:r>
            <a:r>
              <a:rPr lang="en-US" sz="2000" dirty="0" err="1"/>
              <a:t>підтримку</a:t>
            </a:r>
            <a:r>
              <a:rPr lang="en-US" sz="2000" dirty="0"/>
              <a:t> </a:t>
            </a:r>
            <a:r>
              <a:rPr lang="en-US" sz="2000" dirty="0" err="1"/>
              <a:t>нових</a:t>
            </a:r>
            <a:r>
              <a:rPr lang="en-US" sz="2000" dirty="0"/>
              <a:t> </a:t>
            </a:r>
            <a:r>
              <a:rPr lang="en-US" sz="2000" dirty="0" err="1"/>
              <a:t>моделей</a:t>
            </a:r>
            <a:r>
              <a:rPr lang="en-US" sz="2000" dirty="0"/>
              <a:t> </a:t>
            </a:r>
            <a:r>
              <a:rPr lang="en-US" sz="2000" dirty="0" err="1"/>
              <a:t>смарт-ваг</a:t>
            </a:r>
            <a:r>
              <a:rPr lang="en-US" sz="2000" dirty="0"/>
              <a:t>, </a:t>
            </a:r>
            <a:r>
              <a:rPr lang="en-US" sz="2000" dirty="0" err="1"/>
              <a:t>персоналізовані</a:t>
            </a:r>
            <a:r>
              <a:rPr lang="en-US" sz="2000" dirty="0"/>
              <a:t> </a:t>
            </a:r>
            <a:r>
              <a:rPr lang="en-US" sz="2000" dirty="0" err="1"/>
              <a:t>рекомендації</a:t>
            </a:r>
            <a:r>
              <a:rPr lang="en-US" sz="2000" dirty="0"/>
              <a:t>, </a:t>
            </a:r>
            <a:r>
              <a:rPr lang="en-US" sz="2000" dirty="0" err="1"/>
              <a:t>розширену</a:t>
            </a:r>
            <a:r>
              <a:rPr lang="en-US" sz="2000" dirty="0"/>
              <a:t> </a:t>
            </a:r>
            <a:r>
              <a:rPr lang="en-US" sz="2000" dirty="0" err="1"/>
              <a:t>статистику</a:t>
            </a:r>
            <a:r>
              <a:rPr lang="en-US" sz="2000" dirty="0"/>
              <a:t> </a:t>
            </a:r>
            <a:r>
              <a:rPr lang="en-US" sz="2000" dirty="0" err="1"/>
              <a:t>та</a:t>
            </a:r>
            <a:r>
              <a:rPr lang="en-US" sz="2000" dirty="0"/>
              <a:t> </a:t>
            </a:r>
            <a:r>
              <a:rPr lang="en-US" sz="2000" dirty="0" err="1"/>
              <a:t>хмарну</a:t>
            </a:r>
            <a:r>
              <a:rPr lang="en-US" sz="2000" dirty="0"/>
              <a:t> </a:t>
            </a:r>
            <a:r>
              <a:rPr lang="en-US" sz="2000" dirty="0" err="1"/>
              <a:t>синхронізацію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0E3F0AE-E131-5A2C-EA71-91B9C68693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5276" y="6200682"/>
            <a:ext cx="552149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smtClean="0">
                <a:solidFill>
                  <a:schemeClr val="tx1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E16A521F-4EE0-FCDD-7187-6D2AFE7B3374}"/>
              </a:ext>
            </a:extLst>
          </p:cNvPr>
          <p:cNvSpPr/>
          <p:nvPr/>
        </p:nvSpPr>
        <p:spPr>
          <a:xfrm>
            <a:off x="333069" y="6133469"/>
            <a:ext cx="496562" cy="4965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913</Words>
  <Application>Microsoft Office PowerPoint</Application>
  <PresentationFormat>Широкий екран</PresentationFormat>
  <Paragraphs>137</Paragraphs>
  <Slides>15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6" baseType="lpstr">
      <vt:lpstr>Open Sans</vt:lpstr>
      <vt:lpstr>Poppins</vt:lpstr>
      <vt:lpstr>Inter SemiBold</vt:lpstr>
      <vt:lpstr>Poppins SemiBold</vt:lpstr>
      <vt:lpstr>Arial</vt:lpstr>
      <vt:lpstr>Lato</vt:lpstr>
      <vt:lpstr>Calibri</vt:lpstr>
      <vt:lpstr>Outfit SemiBold</vt:lpstr>
      <vt:lpstr>Inter</vt:lpstr>
      <vt:lpstr>Material Icons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Гліб Переверзєв</cp:lastModifiedBy>
  <cp:revision>7</cp:revision>
  <dcterms:modified xsi:type="dcterms:W3CDTF">2026-07-08T18:07:36Z</dcterms:modified>
</cp:coreProperties>
</file>